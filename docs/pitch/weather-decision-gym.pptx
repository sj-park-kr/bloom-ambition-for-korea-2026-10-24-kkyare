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4A5650"/>
                </a:solidFill>
                <a:latin typeface="Malgun Gothic"/>
              </a:rPr>
              <a:t>Weather Decision Gym · 꺄레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31520"/>
            <a:ext cx="11064240" cy="0"/>
          </a:xfrm>
          <a:prstGeom prst="line">
            <a:avLst/>
          </a:prstGeom>
          <a:ln w="25400">
            <a:solidFill>
              <a:srgbClr val="1C26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620"/>
                </a:solidFill>
                <a:latin typeface="Malgun Gothic"/>
              </a:rPr>
              <a:t>미국 작물보험금의 73%는 날씨 때문에 나간다.</a:t>
            </a:r>
          </a:p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620"/>
                </a:solidFill>
                <a:latin typeface="Malgun Gothic"/>
              </a:rPr>
              <a:t>그런데 필지 단위로 검증된 날씨-손해 데이터는 없다.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06040"/>
            <a:ext cx="73152" cy="265176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620"/>
                </a:solidFill>
                <a:latin typeface="Malgun Gothic"/>
              </a:rPr>
              <a:t>작물보험사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7A4A2A"/>
                </a:solidFill>
                <a:latin typeface="Malgun Gothic"/>
              </a:rPr>
              <a:t>$118.7B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301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A5650"/>
                </a:solidFill>
                <a:latin typeface="Malgun Gothic"/>
              </a:rPr>
              <a:t>2001-2022 날씨 원인 작물보험금, 전체의 약 73% (EWG/USDA)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C2620"/>
                </a:solidFill>
                <a:latin typeface="Malgun Gothic"/>
              </a:rPr>
              <a:t>약 $11.5B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274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A5650"/>
                </a:solidFill>
                <a:latin typeface="Malgun Gothic"/>
              </a:rPr>
              <a:t>2025 작물년도 보험금 (USDA RMA, 2026.9 기준)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92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A5650"/>
                </a:solidFill>
                <a:latin typeface="Malgun Gothic"/>
              </a:rPr>
              <a:t>날씨는 카운티 단위로만 본다. "그날 그 밭에 정말 서리가 왔나"를 필지 단위로 검증할 수단이 없다.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606040"/>
            <a:ext cx="73152" cy="2651760"/>
          </a:xfrm>
          <a:prstGeom prst="rect">
            <a:avLst/>
          </a:prstGeom>
          <a:solidFill>
            <a:srgbClr val="3B6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560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620"/>
                </a:solidFill>
                <a:latin typeface="Malgun Gothic"/>
              </a:rPr>
              <a:t>RL 데이터 회사 (Mercor, Surge, Fleet AI …)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9718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3B6A94"/>
                </a:solidFill>
                <a:latin typeface="Malgun Gothic"/>
              </a:rPr>
              <a:t>$1B+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6301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A5650"/>
                </a:solidFill>
                <a:latin typeface="Malgun Gothic"/>
              </a:rPr>
              <a:t>한 대형 랩의 RL 환경 연간 지출 논의 (보도, The Information)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0690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C2620"/>
                </a:solidFill>
                <a:latin typeface="Malgun Gothic"/>
              </a:rPr>
              <a:t>$200-2,000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7274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A5650"/>
                </a:solidFill>
                <a:latin typeface="Malgun Gothic"/>
              </a:rPr>
              <a:t>과제 한 개 시장 단가 (Epoch AI)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892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A5650"/>
                </a:solidFill>
                <a:latin typeface="Malgun Gothic"/>
              </a:rPr>
              <a:t>수학·코드 밖에는 자동 채점되고 오염되지 않는 과제가 거의 없다. 전문가 라벨에 매출의 60-70%가 나간다.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5715000"/>
            <a:ext cx="11064240" cy="0"/>
          </a:xfrm>
          <a:prstGeom prst="line">
            <a:avLst/>
          </a:prstGeom>
          <a:ln w="12700">
            <a:solidFill>
              <a:srgbClr val="C5CC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C2620"/>
                </a:solidFill>
                <a:latin typeface="Malgun Gothic"/>
              </a:rPr>
              <a:t>둘 다 필요한 것은 하나다: 실제 날씨로 "맞았는지"를 판정하는 엔진.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A5650"/>
                </a:solidFill>
                <a:latin typeface="Malgun Gothic"/>
              </a:rPr>
              <a:t>출처: EWG 작물보험 분석(USDA RMA 자료), RMA Summary of Business, Epoch AI "An FAQ on RL environments", TechCrunch 2025.9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4A5650"/>
                </a:solidFill>
                <a:latin typeface="Malgun Gothic"/>
              </a:rPr>
              <a:t>Weather Decision Gym · 꺄레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31520"/>
            <a:ext cx="11064240" cy="0"/>
          </a:xfrm>
          <a:prstGeom prst="line">
            <a:avLst/>
          </a:prstGeom>
          <a:ln w="25400">
            <a:solidFill>
              <a:srgbClr val="1C26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C2620"/>
                </a:solidFill>
                <a:latin typeface="Malgun Gothic"/>
              </a:rPr>
              <a:t>같은 검증기로 두 고객에게 판다</a:t>
            </a:r>
          </a:p>
        </p:txBody>
      </p:sp>
      <p:pic>
        <p:nvPicPr>
          <p:cNvPr id="5" name="Picture 4" descr="insur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3566160" cy="4179094"/>
          </a:xfrm>
          <a:prstGeom prst="rect">
            <a:avLst/>
          </a:prstGeom>
        </p:spPr>
      </p:pic>
      <p:pic>
        <p:nvPicPr>
          <p:cNvPr id="6" name="Picture 5" descr="timemac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691640"/>
            <a:ext cx="3566160" cy="41790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9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A5650"/>
                </a:solidFill>
                <a:latin typeface="Malgun Gothic"/>
              </a:rPr>
              <a:t>보험사 콘솔: 위험점수 → 실제 손해율 → 요율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5989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A5650"/>
                </a:solidFill>
                <a:latin typeface="Malgun Gothic"/>
              </a:rPr>
              <a:t>Time Machine: 예보로 판단, 다음 날 관측으로 채점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6916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7A4A2A"/>
                </a:solidFill>
                <a:latin typeface="Malgun Gothic"/>
              </a:rPr>
              <a:t>$3,240 → $480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5000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A5650"/>
                </a:solidFill>
                <a:latin typeface="Malgun Gothic"/>
              </a:rPr>
              <a:t>서리 밤, 필지 8곳 acre당 손해 합계: 원천 격자 예보대로 vs 필지 보정 엔진 권고대로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8803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3B6A94"/>
                </a:solidFill>
                <a:latin typeface="Malgun Gothic"/>
              </a:rPr>
              <a:t>70개 / 0명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5387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A5650"/>
                </a:solidFill>
                <a:latin typeface="Malgun Gothic"/>
              </a:rPr>
              <a:t>버튼 한 번에 만든 채점 과제 / 필요한 사람 라벨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4069080"/>
            <a:ext cx="73152" cy="86868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40233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C2620"/>
                </a:solidFill>
                <a:latin typeface="Malgun Gothic"/>
              </a:rPr>
              <a:t>보험사: 보험수가·피해보상액·갱신 요율 범위, 청구 검증 (청구 건당 / 에이커당)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1C2620"/>
                </a:solidFill>
                <a:latin typeface="Malgun Gothic"/>
              </a:rPr>
              <a:t>데이터 회사: 자동 채점 과제·비공개 평가셋 (과제당 / 맞춤 환경)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5074920"/>
            <a:ext cx="73152" cy="868680"/>
          </a:xfrm>
          <a:prstGeom prst="rect">
            <a:avLst/>
          </a:prstGeom>
          <a:solidFill>
            <a:srgbClr val="4E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5029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C2620"/>
                </a:solidFill>
                <a:latin typeface="Malgun Gothic"/>
              </a:rPr>
              <a:t>해자: 농장 연결로 쌓이는 필지 단위 "날씨 → 생산량·손해" 기록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1C2620"/>
                </a:solidFill>
                <a:latin typeface="Malgun Gothic"/>
              </a:rPr>
              <a:t>공개 데이터로는 만들 수 없다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355080"/>
            <a:ext cx="11064240" cy="0"/>
          </a:xfrm>
          <a:prstGeom prst="line">
            <a:avLst/>
          </a:prstGeom>
          <a:ln w="12700">
            <a:solidFill>
              <a:srgbClr val="C5CC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A5650"/>
                </a:solidFill>
                <a:latin typeface="Malgun Gothic"/>
              </a:rPr>
              <a:t>검증된 날씨-생산량 데이터는 기업의 자산이 되어 작물 생산량을 높이고 보험사의 지출을 줄인다.   (데모 수치는 임의의 아이오와 농장 목업, 비용·가격은 가정)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4A5650"/>
                </a:solidFill>
                <a:latin typeface="Malgun Gothic"/>
              </a:rPr>
              <a:t>Weather Decision Gym · 꺄레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31520"/>
            <a:ext cx="11064240" cy="0"/>
          </a:xfrm>
          <a:prstGeom prst="line">
            <a:avLst/>
          </a:prstGeom>
          <a:ln w="25400">
            <a:solidFill>
              <a:srgbClr val="1C26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C2620"/>
                </a:solidFill>
                <a:latin typeface="Malgun Gothic"/>
              </a:rPr>
              <a:t>예보는 이미 무료가 되고 있다.</a:t>
            </a:r>
          </a:p>
          <a:p>
            <a:pPr algn="l">
              <a:lnSpc>
                <a:spcPct val="105000"/>
              </a:lnSpc>
            </a:pPr>
            <a:r>
              <a:rPr sz="2800" b="1">
                <a:solidFill>
                  <a:srgbClr val="1C2620"/>
                </a:solidFill>
                <a:latin typeface="Malgun Gothic"/>
              </a:rPr>
              <a:t>우리는 예보가 아니라 "필지별로 맞았는지"의 기록을 판다.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02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4A5650"/>
                </a:solidFill>
                <a:latin typeface="Malgun Gothi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240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4A5650"/>
                </a:solidFill>
                <a:latin typeface="Malgun Gothic"/>
              </a:rPr>
              <a:t>파는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402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4A5650"/>
                </a:solidFill>
                <a:latin typeface="Malgun Gothic"/>
              </a:rPr>
              <a:t>단위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240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4A5650"/>
                </a:solidFill>
                <a:latin typeface="Malgun Gothic"/>
              </a:rPr>
              <a:t>시즌이 지나면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770632"/>
            <a:ext cx="11064240" cy="0"/>
          </a:xfrm>
          <a:prstGeom prst="line">
            <a:avLst/>
          </a:prstGeom>
          <a:ln w="12700">
            <a:solidFill>
              <a:srgbClr val="C5CC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807208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620"/>
                </a:solidFill>
                <a:latin typeface="Malgun Gothic"/>
              </a:rPr>
              <a:t>DTN · Tomorrow.io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80720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C2620"/>
                </a:solidFill>
                <a:latin typeface="Malgun Gothic"/>
              </a:rPr>
              <a:t>더 정확한 예보 (API, 알림)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07208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C2620"/>
                </a:solidFill>
                <a:latin typeface="Malgun Gothic"/>
              </a:rPr>
              <a:t>격자·지역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80720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C2620"/>
                </a:solidFill>
                <a:latin typeface="Malgun Gothic"/>
              </a:rPr>
              <a:t>같은 정확도. 오픈 모델(NVIDIA Earth-2, WeatherNext)과 경쟁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3337560"/>
            <a:ext cx="11064240" cy="0"/>
          </a:xfrm>
          <a:prstGeom prst="line">
            <a:avLst/>
          </a:prstGeom>
          <a:ln w="12700">
            <a:solidFill>
              <a:srgbClr val="C5CC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374136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620"/>
                </a:solidFill>
                <a:latin typeface="Malgun Gothic"/>
              </a:rPr>
              <a:t>Climate FieldView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374136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C2620"/>
                </a:solidFill>
                <a:latin typeface="Malgun Gothic"/>
              </a:rPr>
              <a:t>농장 관리 플랫폼, 날씨는 부속 기능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74136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C2620"/>
                </a:solidFill>
                <a:latin typeface="Malgun Gothic"/>
              </a:rPr>
              <a:t>농장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374136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C2620"/>
                </a:solidFill>
                <a:latin typeface="Malgun Gothic"/>
              </a:rPr>
              <a:t>기계 데이터는 쌓이나 날씨-수확 검증 없음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3904488"/>
            <a:ext cx="11064240" cy="0"/>
          </a:xfrm>
          <a:prstGeom prst="line">
            <a:avLst/>
          </a:prstGeom>
          <a:ln w="12700">
            <a:solidFill>
              <a:srgbClr val="C5CC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3941064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620"/>
                </a:solidFill>
                <a:latin typeface="Malgun Gothic"/>
              </a:rPr>
              <a:t>RL 환경 회사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941064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C2620"/>
                </a:solidFill>
                <a:latin typeface="Malgun Gothic"/>
              </a:rPr>
              <a:t>랩에 파는 운영 시뮬레이션 환경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941064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C2620"/>
                </a:solidFill>
                <a:latin typeface="Malgun Gothic"/>
              </a:rPr>
              <a:t>과제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941064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C2620"/>
                </a:solidFill>
                <a:latin typeface="Malgun Gothic"/>
              </a:rPr>
              <a:t>날씨 실측으로 채점하는 농업 과제는 없음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471416"/>
            <a:ext cx="11064240" cy="0"/>
          </a:xfrm>
          <a:prstGeom prst="line">
            <a:avLst/>
          </a:prstGeom>
          <a:ln w="12700">
            <a:solidFill>
              <a:srgbClr val="C5CC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45079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E7A3A"/>
                </a:solidFill>
                <a:latin typeface="Malgun Gothic"/>
              </a:rPr>
              <a:t>꺄레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5079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E7A3A"/>
                </a:solidFill>
                <a:latin typeface="Malgun Gothic"/>
              </a:rPr>
              <a:t>실측으로 채점된 농업 결정 과제 + 필지 수확 기록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507992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E7A3A"/>
                </a:solidFill>
                <a:latin typeface="Malgun Gothic"/>
              </a:rPr>
              <a:t>필지·과제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5079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E7A3A"/>
                </a:solidFill>
                <a:latin typeface="Malgun Gothic"/>
              </a:rPr>
              <a:t>실제 수확으로 다시 학습, 오차가 줄어듦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038344"/>
            <a:ext cx="11064240" cy="0"/>
          </a:xfrm>
          <a:prstGeom prst="line">
            <a:avLst/>
          </a:prstGeom>
          <a:ln w="12700">
            <a:solidFill>
              <a:srgbClr val="C5CC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521208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7A4A2A"/>
                </a:solidFill>
                <a:latin typeface="Malgun Gothic"/>
              </a:rPr>
              <a:t>25–31%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70448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A5650"/>
                </a:solidFill>
                <a:latin typeface="Malgun Gothic"/>
              </a:rPr>
              <a:t>공개 예보 4개의 살포 판단이 실측과 어긋난 비율 (실데이터, 2026 여름 디모인 1,012건)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257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620"/>
                </a:solidFill>
                <a:latin typeface="Malgun Gothic"/>
              </a:rPr>
              <a:t>공개 날씨·보험 자료는 누구나 쓴다.</a:t>
            </a:r>
          </a:p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620"/>
                </a:solidFill>
                <a:latin typeface="Malgun Gothic"/>
              </a:rPr>
              <a:t>연결 농장의 필지별 수확 기록은 우리만 갖고, 해마다 쌓인다.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A5650"/>
                </a:solidFill>
                <a:latin typeface="Malgun Gothic"/>
              </a:rPr>
              <a:t>출처: docs/research_sungho/01_competitors.md, 10_similar_companies.md (RL 환경 회사 예: Maingen. 공개 자료, 일부 2차 출처). 백테스트: scripts/backtest-spray-windows.ts (Open-Meteo Single Runs, IEM ASOS DSM).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4A5650"/>
                </a:solidFill>
                <a:latin typeface="Malgun Gothic"/>
              </a:rPr>
              <a:t>Weather Decision Gym · 꺄레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31520"/>
            <a:ext cx="11064240" cy="0"/>
          </a:xfrm>
          <a:prstGeom prst="line">
            <a:avLst/>
          </a:prstGeom>
          <a:ln w="25400">
            <a:solidFill>
              <a:srgbClr val="1C26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C2620"/>
                </a:solidFill>
                <a:latin typeface="Malgun Gothic"/>
              </a:rPr>
              <a:t>지금 팔 수 있는 것부터 팔고, 농장 기록으로 해자를 쌓는다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73152" cy="3291840"/>
          </a:xfrm>
          <a:prstGeom prst="rect">
            <a:avLst/>
          </a:prstGeom>
          <a:solidFill>
            <a:srgbClr val="3B6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4A5650"/>
                </a:solidFill>
                <a:latin typeface="Malgun Gothic"/>
              </a:rPr>
              <a:t>1단계 · 지금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C2620"/>
                </a:solidFill>
                <a:latin typeface="Malgun Gothic"/>
              </a:rPr>
              <a:t>RL 평가·데이터 회사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C2620"/>
                </a:solidFill>
                <a:latin typeface="Malgun Gothic"/>
              </a:rPr>
              <a:t>공개 예보와 실측으로 만드는 채점 과제와 비공개 평가셋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C2620"/>
                </a:solidFill>
                <a:latin typeface="Malgun Gothic"/>
              </a:rPr>
              <a:t>가격: 과제당 $200-2,000 시장 단가 (Epoch AI)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C2620"/>
                </a:solidFill>
                <a:latin typeface="Malgun Gothic"/>
              </a:rPr>
              <a:t>근거: 공개 예보 4개가 살포 판단 25–31%를 틀림 (실데이터)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783080"/>
            <a:ext cx="73152" cy="329184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4A5650"/>
                </a:solidFill>
                <a:latin typeface="Malgun Gothic"/>
              </a:rPr>
              <a:t>2단계 · 0~6개월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103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C2620"/>
                </a:solidFill>
                <a:latin typeface="Malgun Gothic"/>
              </a:rPr>
              <a:t>아이오와 옥수수·콩 대형 농장 10곳 (무료)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92608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C2620"/>
                </a:solidFill>
                <a:latin typeface="Malgun Gothic"/>
              </a:rPr>
              <a:t>수확 기록을 연결하면 필지별 예측을 무료로 준다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C2620"/>
                </a:solidFill>
                <a:latin typeface="Malgun Gothic"/>
              </a:rPr>
              <a:t>경로: 보험 가입 생산 기록(APH), Deere·FieldView 연결 (농가 동의)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C2620"/>
                </a:solidFill>
                <a:latin typeface="Malgun Gothic"/>
              </a:rPr>
              <a:t>목표: 필지 500곳 × 과거 3시즌 수확 기록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783080"/>
            <a:ext cx="73152" cy="3291840"/>
          </a:xfrm>
          <a:prstGeom prst="rect">
            <a:avLst/>
          </a:prstGeom>
          <a:solidFill>
            <a:srgbClr val="7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4A5650"/>
                </a:solidFill>
                <a:latin typeface="Malgun Gothic"/>
              </a:rPr>
              <a:t>3단계 · 6~12개월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103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C2620"/>
                </a:solidFill>
                <a:latin typeface="Malgun Gothic"/>
              </a:rPr>
              <a:t>작물보험사 1곳 파일럿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92608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C2620"/>
                </a:solidFill>
                <a:latin typeface="Malgun Gothic"/>
              </a:rPr>
              <a:t>그 필지 기록으로 청구 검증, 요율 범위 제공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C2620"/>
                </a:solidFill>
                <a:latin typeface="Malgun Gothic"/>
              </a:rPr>
              <a:t>가격: 청구 건당 또는 acre당 [가정]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C2620"/>
                </a:solidFill>
                <a:latin typeface="Malgun Gothic"/>
              </a:rPr>
              <a:t>근거: 보험금의 73%가 날씨 원인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5349240"/>
            <a:ext cx="11064240" cy="0"/>
          </a:xfrm>
          <a:prstGeom prst="line">
            <a:avLst/>
          </a:prstGeom>
          <a:ln w="12700">
            <a:solidFill>
              <a:srgbClr val="C5CC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620"/>
                </a:solidFill>
                <a:latin typeface="Malgun Gothic"/>
              </a:rPr>
              <a:t>RL 회사가 지금 매출을 내고, 농장은 무료로 예측을 얻는 대신 기록을 낸다. 농장이 늘수록 예측과 과제가 좋아지는 순환이다.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A5650"/>
                </a:solidFill>
                <a:latin typeface="Malgun Gothic"/>
              </a:rPr>
              <a:t>2·3단계 숫자와 가격은 가정, APH 공유 조건과 API 약관은 확인 필요. 과제 단가: Epoch AI "An FAQ on RL environments". 보험금 비중: EWG 작물보험 분석(USDA RMA 자료).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